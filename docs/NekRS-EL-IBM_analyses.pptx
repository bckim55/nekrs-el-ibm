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eeab4b68-82d1-16b4-9eef-fd80ec9fa250}">
          <p14:sldIdLst>
            <p14:sldId id="256"/>
            <p14:sldId id="257"/>
          </p14:sldIdLst>
        </p14:section>
        <p14:section name="1. EL 결합 검증 (V1–V9)" id="{a8cb2b5f-fd37-56c0-87d5-b32fcf79093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2. IBM 검증 (V10–V12)" id="{fac36659-ad4f-d986-3fe2-98fa673d3841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3. Pilobolus 준비 검증 (V13–V15)" id="{bec2f105-3048-7ab6-4215-21cba0a7fb35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4. Pilobolus 포자낭 발사" id="{b218c712-ede3-f5fe-a717-06daa8a3202c}">
          <p14:sldIdLst>
            <p14:sldId id="291"/>
            <p14:sldId id="292"/>
            <p14:sldId id="293"/>
            <p14:sldId id="294"/>
            <p14:sldId id="295"/>
          </p14:sldIdLst>
        </p14:section>
        <p14:section name="5. 요약" id="{be9e4a31-c890-6363-508a-e17fee208c42}">
          <p14:sldIdLst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4C5C"/>
                </a:solidFill>
                <a:latin typeface="+mn-lt"/>
              </a:rPr>
              <a:t>C_d vs U t/d (Re 100, 노트북 격자)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처방 운동 구 (유체 정지)</c:v>
                </c:pt>
              </c:strCache>
            </c:strRef>
          </c:tx>
          <c:spPr>
            <a:solidFill>
              <a:srgbClr val="E36414"/>
            </a:solidFill>
            <a:ln w="25400" cap="flat">
              <a:solidFill>
                <a:srgbClr val="E364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6414"/>
              </a:solidFill>
              <a:ln w="9525" cap="flat">
                <a:solidFill>
                  <a:srgbClr val="E364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0.4</c:v>
                  </c:pt>
                  <c:pt idx="1">
                    <c:v>0.8</c:v>
                  </c:pt>
                  <c:pt idx="2">
                    <c:v>1.2</c:v>
                  </c:pt>
                  <c:pt idx="3">
                    <c:v>1.6</c:v>
                  </c:pt>
                  <c:pt idx="4">
                    <c:v>2.0</c:v>
                  </c:pt>
                  <c:pt idx="5">
                    <c:v>2.4</c:v>
                  </c:pt>
                  <c:pt idx="6">
                    <c:v>2.8</c:v>
                  </c:pt>
                  <c:pt idx="7">
                    <c:v>3.2</c:v>
                  </c:pt>
                  <c:pt idx="8">
                    <c:v>3.6</c:v>
                  </c:pt>
                  <c:pt idx="9">
                    <c:v>4.0</c:v>
                  </c:pt>
                  <c:pt idx="10">
                    <c:v>4.4</c:v>
                  </c:pt>
                  <c:pt idx="11">
                    <c:v>4.8</c:v>
                  </c:pt>
                  <c:pt idx="12">
                    <c:v>5.2</c:v>
                  </c:pt>
                  <c:pt idx="13">
                    <c:v>5.6</c:v>
                  </c:pt>
                  <c:pt idx="14">
                    <c:v>6.0</c:v>
                  </c:pt>
                  <c:pt idx="15">
                    <c:v>6.4</c:v>
                  </c:pt>
                  <c:pt idx="16">
                    <c:v>6.8</c:v>
                  </c:pt>
                  <c:pt idx="17">
                    <c:v>7.2</c:v>
                  </c:pt>
                  <c:pt idx="18">
                    <c:v>7.6</c:v>
                  </c:pt>
                  <c:pt idx="19">
                    <c:v>8.0</c:v>
                  </c:pt>
                  <c:pt idx="20">
                    <c:v>8.4</c:v>
                  </c:pt>
                  <c:pt idx="21">
                    <c:v>8.8</c:v>
                  </c:pt>
                  <c:pt idx="22">
                    <c:v>9.2</c:v>
                  </c:pt>
                  <c:pt idx="23">
                    <c:v>9.6</c:v>
                  </c:pt>
                  <c:pt idx="24">
                    <c:v>10.0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2.1576</c:v>
                </c:pt>
                <c:pt idx="1">
                  <c:v>1.5662</c:v>
                </c:pt>
                <c:pt idx="2">
                  <c:v>1.4678</c:v>
                </c:pt>
                <c:pt idx="3">
                  <c:v>1.3742</c:v>
                </c:pt>
                <c:pt idx="4">
                  <c:v>1.3472</c:v>
                </c:pt>
                <c:pt idx="5">
                  <c:v>1.3528</c:v>
                </c:pt>
                <c:pt idx="6">
                  <c:v>1.3835</c:v>
                </c:pt>
                <c:pt idx="7">
                  <c:v>1.3589</c:v>
                </c:pt>
                <c:pt idx="8">
                  <c:v>1.291</c:v>
                </c:pt>
                <c:pt idx="9">
                  <c:v>1.277</c:v>
                </c:pt>
                <c:pt idx="10">
                  <c:v>1.2939</c:v>
                </c:pt>
                <c:pt idx="11">
                  <c:v>1.3328</c:v>
                </c:pt>
                <c:pt idx="12">
                  <c:v>1.3169</c:v>
                </c:pt>
                <c:pt idx="13">
                  <c:v>1.2562</c:v>
                </c:pt>
                <c:pt idx="14">
                  <c:v>1.2473</c:v>
                </c:pt>
                <c:pt idx="15">
                  <c:v>1.2684</c:v>
                </c:pt>
                <c:pt idx="16">
                  <c:v>1.3102</c:v>
                </c:pt>
                <c:pt idx="17">
                  <c:v>1.2977</c:v>
                </c:pt>
                <c:pt idx="18">
                  <c:v>1.2397</c:v>
                </c:pt>
                <c:pt idx="19">
                  <c:v>1.2329</c:v>
                </c:pt>
                <c:pt idx="20">
                  <c:v>1.2556</c:v>
                </c:pt>
                <c:pt idx="21">
                  <c:v>1.2986</c:v>
                </c:pt>
                <c:pt idx="22">
                  <c:v>1.2875</c:v>
                </c:pt>
                <c:pt idx="23">
                  <c:v>1.2307</c:v>
                </c:pt>
                <c:pt idx="24">
                  <c:v>1.2248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고정 구 (유입류)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0.4</c:v>
                  </c:pt>
                  <c:pt idx="1">
                    <c:v>0.8</c:v>
                  </c:pt>
                  <c:pt idx="2">
                    <c:v>1.2</c:v>
                  </c:pt>
                  <c:pt idx="3">
                    <c:v>1.6</c:v>
                  </c:pt>
                  <c:pt idx="4">
                    <c:v>2.0</c:v>
                  </c:pt>
                  <c:pt idx="5">
                    <c:v>2.4</c:v>
                  </c:pt>
                  <c:pt idx="6">
                    <c:v>2.8</c:v>
                  </c:pt>
                  <c:pt idx="7">
                    <c:v>3.2</c:v>
                  </c:pt>
                  <c:pt idx="8">
                    <c:v>3.6</c:v>
                  </c:pt>
                  <c:pt idx="9">
                    <c:v>4.0</c:v>
                  </c:pt>
                  <c:pt idx="10">
                    <c:v>4.4</c:v>
                  </c:pt>
                  <c:pt idx="11">
                    <c:v>4.8</c:v>
                  </c:pt>
                  <c:pt idx="12">
                    <c:v>5.2</c:v>
                  </c:pt>
                  <c:pt idx="13">
                    <c:v>5.6</c:v>
                  </c:pt>
                  <c:pt idx="14">
                    <c:v>6.0</c:v>
                  </c:pt>
                  <c:pt idx="15">
                    <c:v>6.4</c:v>
                  </c:pt>
                  <c:pt idx="16">
                    <c:v>6.8</c:v>
                  </c:pt>
                  <c:pt idx="17">
                    <c:v>7.2</c:v>
                  </c:pt>
                  <c:pt idx="18">
                    <c:v>7.6</c:v>
                  </c:pt>
                  <c:pt idx="19">
                    <c:v>8.0</c:v>
                  </c:pt>
                  <c:pt idx="20">
                    <c:v>8.4</c:v>
                  </c:pt>
                  <c:pt idx="21">
                    <c:v>8.8</c:v>
                  </c:pt>
                  <c:pt idx="22">
                    <c:v>9.2</c:v>
                  </c:pt>
                  <c:pt idx="23">
                    <c:v>9.6</c:v>
                  </c:pt>
                  <c:pt idx="24">
                    <c:v>10.0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2.2906</c:v>
                </c:pt>
                <c:pt idx="1">
                  <c:v>1.5596</c:v>
                </c:pt>
                <c:pt idx="2">
                  <c:v>1.463</c:v>
                </c:pt>
                <c:pt idx="3">
                  <c:v>1.427</c:v>
                </c:pt>
                <c:pt idx="4">
                  <c:v>1.4028</c:v>
                </c:pt>
                <c:pt idx="5">
                  <c:v>1.3832</c:v>
                </c:pt>
                <c:pt idx="6">
                  <c:v>1.3668</c:v>
                </c:pt>
                <c:pt idx="7">
                  <c:v>1.3533</c:v>
                </c:pt>
                <c:pt idx="8">
                  <c:v>1.3421</c:v>
                </c:pt>
                <c:pt idx="9">
                  <c:v>1.3328</c:v>
                </c:pt>
                <c:pt idx="10">
                  <c:v>1.325</c:v>
                </c:pt>
                <c:pt idx="11">
                  <c:v>1.3185</c:v>
                </c:pt>
                <c:pt idx="12">
                  <c:v>1.313</c:v>
                </c:pt>
                <c:pt idx="13">
                  <c:v>1.3084</c:v>
                </c:pt>
                <c:pt idx="14">
                  <c:v>1.3045</c:v>
                </c:pt>
                <c:pt idx="15">
                  <c:v>1.3011</c:v>
                </c:pt>
                <c:pt idx="16">
                  <c:v>1.2983</c:v>
                </c:pt>
                <c:pt idx="17">
                  <c:v>1.2959</c:v>
                </c:pt>
                <c:pt idx="18">
                  <c:v>1.2939</c:v>
                </c:pt>
                <c:pt idx="19">
                  <c:v>1.292</c:v>
                </c:pt>
                <c:pt idx="20">
                  <c:v>1.2905</c:v>
                </c:pt>
                <c:pt idx="21">
                  <c:v>1.2891</c:v>
                </c:pt>
                <c:pt idx="22">
                  <c:v>1.2879</c:v>
                </c:pt>
                <c:pt idx="23">
                  <c:v>1.2869</c:v>
                </c:pt>
                <c:pt idx="24">
                  <c:v>1.286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C2B33"/>
                    </a:solidFill>
                    <a:latin typeface="Arial"/>
                  </a:rPr>
                  <a:t>U t / 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2"/>
          <c:min val="1"/>
        </c:scaling>
        <c:delete val="0"/>
        <c:axPos val="l"/>
        <c:majorGridlines>
          <c:spPr>
            <a:ln w="6350" cap="flat">
              <a:solidFill>
                <a:srgbClr val="DD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C2B33"/>
                    </a:solidFill>
                    <a:latin typeface="Arial"/>
                  </a:rPr>
                  <a:t>C_d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B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C2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</a:rPr>
              <a:t>NekRS-EL-IBM  ·  해석 설정과 결과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NekRS-EL-IBM 해석 설정과 결과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nekRS + ppiclF 오일러–라그랑주(EL) · 경계 매립법(IBM) 결합 코드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검증 V1–V15와 Pilobolus 포자낭 발사 해석 — 해석별 설정 1장, 결과 1장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2026-10-28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진행한 해석 목록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  <a:gridCol w="1828800"/>
                <a:gridCol w="393192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해석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종류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핵심 결과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트레이서 강체회전 (일방향 결합)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반올림 수준 (2e-14)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두 방향 결합 보존 수지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중력 충격량의 1e-3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디바이스 입자 경로 vs ppiclF 경로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0.2–0.6 %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분무 파셀 2D 슬롯 제트, 두 경로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7e-8; 0.8 %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V5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EL–IBM 접촉과 운동량 교환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운동량 수지 0.3 %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ppiclF 패치 전·후 회귀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패치판 1–3 랭크 정확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nekRS+ppiclF vs Nek5000+ppiclF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교차 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0.2–1.2 %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TAB 변형·분열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검증+실험 비교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주기 0.5 %; Pilch &amp; Erdman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파셀 평면 제트 vs Bickley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실험·이론 비교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u_c 3.5 % 이내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고정 구 Re 10 (NekIBM simple)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실험·이론 비교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4.09 / 4.69 vs 4.15–4.30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V11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고정 구 Re 100 vs Johnson &amp; Patel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실험·이론 비교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C_d +18 % → +10 %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V12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침강 유리구 vs Mordant &amp; Pinton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실험 비교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u_t −6 % → −2.5 %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V13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EL·IBM 필터 폭 분리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동일 폭: 결과 재현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V14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처방 운동 구 vs 고정 구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C_d 1.257 vs 1.289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V15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부착 접촉 (sticking)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107/200 포획, 수지 동일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Pilobolus 단상 발사 (처방·자유비행)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응용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공기 감속 111–125 m/s²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Pilobolus 수액 액적 부착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응용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부착 질량 90 %, 항력 −36 %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1. EL 결합 검증 (V1–V9)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nekRS ↔ ppiclF 배관, 두 방향 결합 보존, 디바이스 경로, 분무 파셀, 충돌, 교차 코드, TAB, Bickley 제트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 설정 — 트레이서 강체회전 (일방향 결합)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ellipse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ethier.re2: 단위 구, 32 요소, N =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110960" y="3273845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94989" y="3963315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08229" y="3392249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14647" y="2581614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6423" y="360021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2701" y="2794054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456" y="432761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8667" y="3982682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063" y="4150474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3266" y="3433875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7144" y="4385304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87465" y="2383540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06501" y="3527520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23550" y="4082652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56061" y="3296645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5857" y="388312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14494" y="234930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3547" y="398809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4215" y="377526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943" y="2812376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09073" y="3732460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6998" y="2478510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3049" y="2570177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8066" y="398059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903" y="3619989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5236" y="307355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9675" y="4007068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23809" y="429800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7385" y="3597077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5598" y="308646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22412" y="3787128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7464" y="3415329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98714" y="2669624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24592" y="353821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18351" y="3979156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60719" y="4207400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32046" y="2825829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11744" y="238686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0766" y="2621822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70197" y="3100829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50522" y="4441838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8006" y="371628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11926" y="3637789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36382" y="2889844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135" y="2412815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58928" y="371128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18475" y="3534274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38306" y="2338537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36627" y="2595887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22225" y="3473430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15942" y="2768026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94175" y="391872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96785" y="415816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82467" y="2975858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80725" y="260182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43850" y="2686771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10762" y="4412880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21700" y="4448573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12572" y="2686379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78794" y="4177397"/>
            <a:ext cx="45720" cy="45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4149547" y="2962656"/>
            <a:ext cx="9144" cy="932688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3326587" y="25968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u = (−ωy, ωx), ω = 1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유동을 강체회전으로 고정하고 트레이서 1000개를 한 바퀴 돌림 (1·2·4·8 랭크)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격자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nekRS ethier.re2 (단위 구, 32 요소), N = 7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유동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강체회전 u = −ωy, v = ωx (ω = 1)로 고정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입자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트레이서 1000개, 무작위 위치, 일방향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dt = 2π/600, 600 스텝 (1회전)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1, 2, 4, 8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기준해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속도가 선형이라 GLL 보간은 정확; ppiclF RK3는 이 RHS에서 전진 오일러와 같아 이산 해석해 존재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검사 항목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보간, 요소 소유, 랭크 간 입자 이동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 결과 — 반올림 수준에서 정확, 랭크 수 무관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1.9e-14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이산 해석해와의 최대 거리 (step 550, 8 랭크)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3533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2.1e-14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9385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같은 값 (step 600); 1·2·4 랭크 동일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3533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9385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손실된 트레이서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errExact (정확한 회전과의 차) 1.7e-2는 ppiclF 자체의 O(dt) 오일러 오차로 1회전 예측치와 일치 — 결합의 오차가 아님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보간·요소 소유·이동이 랭크 수에 관계없이 반올림 수준에서 정확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힘 투영이나 두 방향 결합 항은 시험하지 않음 (→ V2)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의미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nekRS 요소 배치를 ppiclF 겹침 격자로 넘기는 배관과 입자 재분배가 올바르게 동작한다. 이후 모든 두 방향 검증의 바탕.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V2 설정 — 두 방향 결합 보존 수지 (settling_twoway)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020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11858" y="324290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2752" y="412936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9776" y="339513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9456" y="235289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8882" y="366251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5525" y="262603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9210" y="459774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4624" y="415426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9847" y="436999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7680" y="344865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32666" y="467192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7365" y="209822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7553" y="356905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3759" y="428279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2703" y="327221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9583" y="402626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6401" y="205420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86612" y="416122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0329" y="388758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69407" y="264958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23718" y="383255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2479" y="222033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07401" y="233818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56708" y="415158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6785" y="368794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63070" y="298538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20206" y="418562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99806" y="455967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2976" y="365848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4964" y="300198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12296" y="390283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65934" y="342481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67541" y="246604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00814" y="358280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78504" y="414973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18691" y="444318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96112" y="266688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41438" y="210249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33037" y="240458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30877" y="302045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295" y="474460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45203" y="381175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41671" y="371083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8829" y="274918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5940" y="213586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9245" y="380532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78663" y="357774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89874" y="204036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6287" y="237124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83485" y="349951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89692" y="259256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47420" y="407203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07918" y="437988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18082" y="285977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87270" y="237887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82716" y="248809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11603" y="470737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68524" y="475326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42502" y="248759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99073" y="440461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21934" y="466640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21900" y="344568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18987" y="381686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84060" y="398365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51661" y="442968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00161" y="480949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85653" y="457040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68347" y="450690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7218" y="365177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63275" y="269588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02709" y="274465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84784" y="220905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45741" y="302355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89371" y="380638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55546" y="234672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71547" y="462070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61021" y="396132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22192" y="313210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69508" y="375660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50346" y="227680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17410" y="363248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76186" y="229661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1972" y="341624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75823" y="291519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22332" y="210611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218586" y="364891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32057" y="284560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42570" y="225242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64812" y="204211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16863" y="249102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971523" y="460091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61401" y="325928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64865" y="371682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39945" y="262276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44915" y="356968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8750" y="279227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884395" y="377948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46105" y="204060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83144" y="438079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33689" y="434032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299595" y="333550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20734" y="475163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24386" y="337258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838072" y="372361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54208" y="297211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391112" y="274165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94226" y="227226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416253" y="370567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062682" y="431290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02680" y="364488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41495" y="322155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977592" y="435558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096122" y="411072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864557" y="338513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664658" y="473506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909175" y="273709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016191" y="326372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258503" y="451865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872593" y="418744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831020" y="472270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848917" y="2185416"/>
            <a:ext cx="9144" cy="777240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29" name="Text 127"/>
          <p:cNvSpPr txBox="1"/>
          <p:nvPr/>
        </p:nvSpPr>
        <p:spPr>
          <a:xfrm>
            <a:off x="1025957" y="19293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g = −1 (z)</a:t>
            </a:r>
            <a:endParaRPr lang="en-US" sz="950" dirty="0"/>
          </a:p>
        </p:txBody>
      </p:sp>
      <p:sp>
        <p:nvSpPr>
          <p:cNvPr id="130" name="Text 128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완전 주기 단위 상자, 정지 입자 10 000개가 중력으로 침강 (6³ 요소, N = 5)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영역·격자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완전 주기 단위 상자, 6 × 6 × 6 요소, N = 5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유체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ρ = 1, ν = 0.01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입자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점입자 10 000개, d_p 0.01, ρ_p 100 (φ_p 0.52 %, 질량부하 0.52), 정지 상태에서 출발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결합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가우시안 투영 FWHM 0.15, 운동량 소스, QTL 발산 (qtl = 1)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dt = 1e-3, 200 스텝 (t = 0.2)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1, 4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검사 수지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proj (투영 보존), fluid (소스 수령), total (전체 운동량), div / divErr (부과·해석 발산)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V2 결과 — 세 가지 전달이 각각 보존 수지를 닫음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212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수지 (t = 0.2)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값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의미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proj: ∫F dV − Σf_p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3.6e-4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가우시안 절단(1e-4)과 GLL 구적의 보존 오차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fluid: P_f − P_f0 − ∫∫FU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1.6e-3 (중력 충격량 대비)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유체 솔버가 소스를 그대로 받음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total: P_f + P_p − P_0 − Σm g t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−1.0e-3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외력은 중력뿐; 명시적 결합 지연만큼 손실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div, divErr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2.0e-4, 6.0e-5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부과 발산과 해석 발산의 차 = nekRS 자체 오차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1 랭크 vs 4 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출력 자릿수까지 동일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병렬 독립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005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1e-3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902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전체 운동량 손실 / 중력 충격량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97680" y="393192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4005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3.6e-4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45902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투영 보존 오차 (절단 한계)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38160" y="393192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4005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동일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5902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 vs 4 랭크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항력 법칙이나 필터 폭이 물리적으로 맞는지는 보여주지 않음 (→ V7, V9)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V3 설정 — 디바이스 입자 경로 vs ppiclF 경로 (settling_gpu)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020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11858" y="324290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2752" y="412936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9776" y="339513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9456" y="235289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8882" y="366251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5525" y="2626031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9210" y="459774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4624" y="415426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9847" y="436999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7680" y="344865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32666" y="467192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7365" y="209822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7553" y="356905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3759" y="428279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2703" y="327221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9583" y="402626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6401" y="205420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86612" y="416122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0329" y="388758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69407" y="264958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23718" y="383255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2479" y="2220330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07401" y="233818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56708" y="4151580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6785" y="368794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63070" y="298538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20206" y="4185620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99806" y="455967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2976" y="365848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4964" y="300198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12296" y="390283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65934" y="342481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67541" y="246604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00814" y="358280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78504" y="414973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18691" y="444318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96112" y="266688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41438" y="210249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33037" y="240458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30877" y="302045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295" y="474460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45203" y="381175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41671" y="371083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8829" y="274918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5940" y="213586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9245" y="380532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78663" y="357774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89874" y="204036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6287" y="237124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83485" y="349951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89692" y="259256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47420" y="407203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07918" y="437988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18082" y="285977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87270" y="237887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82716" y="248809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11603" y="470737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68524" y="475326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42502" y="2487591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99073" y="440461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21934" y="466640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21900" y="344568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18987" y="381686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84060" y="398365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51661" y="442968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00161" y="480949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85653" y="457040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68347" y="450690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7218" y="3651771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63275" y="269588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02709" y="274465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84784" y="220905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45741" y="3023550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89371" y="3806380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55546" y="234672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71547" y="462070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61021" y="396132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22192" y="3132100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69508" y="375660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50346" y="2276800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17410" y="363248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76186" y="229661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1972" y="341624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75823" y="291519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22332" y="210611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218586" y="364891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32057" y="2845601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42570" y="225242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64812" y="204211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16863" y="2491021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971523" y="460091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61401" y="325928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64865" y="371682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39945" y="262276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44915" y="3569681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8750" y="279227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884395" y="377948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46105" y="204060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83144" y="438079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33689" y="434032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299595" y="333550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20734" y="475163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24386" y="337258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838072" y="372361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54208" y="297211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391112" y="274165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94226" y="2272266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416253" y="3705674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062682" y="431290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02680" y="364488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41495" y="322155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977592" y="4355581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096122" y="411072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864557" y="3385135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664658" y="4735062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909175" y="2737099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016191" y="326372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258503" y="4518658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872593" y="4187443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831020" y="4722707"/>
            <a:ext cx="32004" cy="3200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848917" y="2185416"/>
            <a:ext cx="9144" cy="777240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29" name="Text 127"/>
          <p:cNvSpPr txBox="1"/>
          <p:nvPr/>
        </p:nvSpPr>
        <p:spPr>
          <a:xfrm>
            <a:off x="1025957" y="19293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g = −1 (z)</a:t>
            </a:r>
            <a:endParaRPr lang="en-US" sz="950" dirty="0"/>
          </a:p>
        </p:txBody>
      </p:sp>
      <p:sp>
        <p:nvSpPr>
          <p:cNvPr id="130" name="Text 128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V2와 동일한 문제를 src/elgpu.hpp (nekRS lpm_t, 자체 커널)로 해석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문제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V2와 동일 (상자, 입자, 필터 폭, qtl = 1, 200 스텝, 1·4 랭크)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ppiclF 경로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ppiclF 비닝·고스트·가우시안 합 투영, RK3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디바이스 경로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nekRS lpm_t + 자체 커널: L2 투영 + 확산 필터, QTL, SSP-RK3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공유 코드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입자 쪽은 없음 (독립 구현 두 개)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백엔드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OCCA serial (CPU); 커널은 @atomic만 사용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검사 항목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P_f, P_p, Σf, 발산, 투영 보존, 스텝 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V3 결과 — 두 독립 구현이 1 % 이내에서 일치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7373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 = 0.2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ppiclF 경로 (V2)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디바이스 경로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차이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유체 운동량 P_f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−5.631e-2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−5.666e-2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입자 운동량 P_p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−4.851e-2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−4.865e-2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0.3 %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항력 합 Σf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−0.3410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−0.3417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부과 발산 RMS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2.01e-4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1.98e-4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투영 보존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4.6e-4 (절단)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3e-16 (반올림)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전체 운동량 드리프트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−1.0e-3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−1.2e-3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스텝 시간 1 / 4 랭크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2.0 s / 0.9 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0.24 s / 0.09 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8–10x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188720"/>
            <a:ext cx="39319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261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0.2–0.6 %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8470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운동량·항력 차이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772400" y="2514600"/>
            <a:ext cx="39319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25877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8–10x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172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디바이스 경로 속도 (CPU 직렬 기준)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9319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남은 차이는 필터(가우시안 합 vs 확산)와 힘을 취하는 RK 단계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GPU 백엔드에서는 아직 실행하지 않음 (OCCA serial만)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V4 설정 — 분무 파셀 2D 슬롯 제트 (spray_jet2d, _gpu)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3000" y="2423160"/>
            <a:ext cx="4023360" cy="201168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2130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free-slip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4714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free-slip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423160"/>
            <a:ext cx="685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 (x)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423160"/>
            <a:ext cx="685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 (x)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22795" y="339082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4813" y="351829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56322" y="341271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42827" y="326285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2212" y="345116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2745" y="330212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7998" y="358564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4252" y="352187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449" y="355289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1345" y="342041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80325" y="359630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54651" y="322623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02262" y="343772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8000" y="354035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2566" y="339504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8316" y="350346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2140" y="321990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9762" y="352287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02548" y="348352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48489" y="33055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27456" y="347561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44349" y="324378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8264" y="326073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95039" y="352148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81287" y="345481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00856" y="335379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3728" y="352638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66402" y="358016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99305" y="345058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91089" y="335618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77263" y="348571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49355" y="341698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50164" y="327912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66909" y="343970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04047" y="352122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78521" y="356341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12909" y="330800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40949" y="322684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37375" y="327028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84654" y="335884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13099" y="360675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7942" y="347262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35184" y="345811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98067" y="331983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07790" y="323164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42068" y="347169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57069" y="343897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8136" y="321791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74696" y="326548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59495" y="342772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08371" y="32973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94287" y="35100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66563" y="35543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27887" y="333573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62054" y="326658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55841" y="328229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69725" y="360140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47391" y="360800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88543" y="328221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19628" y="355786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27865" y="35955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25887" y="341998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722461" y="347335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956517" y="349734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5441" y="356147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863966" y="361608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10914" y="358170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00243" y="357257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05361" y="344961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44096" y="331217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371600" y="29535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6414"/>
                </a:solidFill>
              </a:rPr>
              <a:t>파셀 (2.4 액적/파셀)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344168" y="3429000"/>
            <a:ext cx="362102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80" name="Text 78"/>
          <p:cNvSpPr txBox="1"/>
          <p:nvPr/>
        </p:nvSpPr>
        <p:spPr>
          <a:xfrm>
            <a:off x="702259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슬롯 0.02, u_jet = 1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2 × 1 × 0.1 상자 (40 × 20 × 1 요소, N = 5), z 주기 — 준 2D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영역·격자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 × 1 × 0.1, 40 × 20 × 1 요소, N = 5; x·z 주기, y free-slip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기체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ρ = 1, ν = 5e-4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액체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ρ 1000, d_p 0.002 (τ_p 0.44, Re_p0 4), 슬롯 폭 0.02 (x = 0.1), u_jet 1, 슬롯 내 φ 0.01 (질량부하 10)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주입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스텝당 파셀 10개 × 2.4 액적, 두 경로가 같은 결정론적 생성기 사용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dt = 2e-3, 1000 스텝 (t = 2), 중력 없음, 4 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(i) 단일 액적 vs 항력 ODE (Python), (ii) 주입 운동량 (정확히 알려짐), (iii) 상대 경로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V4 결과 — 두 경로 모두 액적 ODE·운동량 수지를 만족</a:t>
            </a:r>
            <a:endParaRPr lang="en-US" sz="2600" dirty="0"/>
          </a:p>
        </p:txBody>
      </p:sp>
      <p:pic>
        <p:nvPicPr>
          <p:cNvPr id="3" name="spray_jet2d.png" descr="/Users/byeong-cheonkim/Documents/NekRS-EL-IBM/docs/img/spray_jet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566160" cy="4910328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188720"/>
          <a:ext cx="74066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ppiclF 경로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디바이스 경로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단일 액적 vs 항력 ODE, 최대 오차/U0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7e-8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7e-8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운동량 수지 t = 2 (최대)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+8.6e-4 (2.8e-3)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+9.4e-4 (2.8e-3)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유체 수지 P_gas − ∫FU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1.6e-4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1.6e-4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P_gas, P_parcels (t = 2)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1.072e-2, 2.931e-2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1.081e-2, 2.923e-2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중심선 u_x 최대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0.8333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0.8336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중심선 차 (max / rms)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0.0055 / 0.0013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스텝 시간 (1만 파셀)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1.25 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0.19 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297680" y="484632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액적 방정식은 RK3 정확도로 적분, 운동량은 주입량의 1e-3 이내 보존, 두 경로 차 0.8 % (운동량) / 0.7 % (중심선)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dt = 5e-3 실행은 유도 기체 속도(0.83 u_jet)가 nekRS 이류 CFL을 넘어 t = 0.5에서 발산 — 유체 솔버 한계, 결합 문제 아님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위: 두 경로의 기체 중심선 속도와 파셀 분포 (docs/img/spray_jet2d.png)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V5 설정 — EL–IBM 접촉과 운동량 교환 (el_ibm_collision)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020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0137" y="337748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7002" y="357447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10785" y="341131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84048" y="317970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1698" y="347073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2063" y="324040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3993" y="367856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5196" y="358001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3023" y="362795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83653" y="342320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4761" y="369504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9138" y="31231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10291" y="344996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9448" y="360857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5880" y="338400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52965" y="355156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1146" y="311333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12304" y="358155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5353" y="35207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30703" y="324563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3884" y="350851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84719" y="31502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3591" y="317643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27881" y="35794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10120" y="347638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07073" y="332025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19770" y="358697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15236" y="367010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64830" y="346983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8605" y="332394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9123" y="352413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07709" y="341790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8066" y="320485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15460" y="345301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99391" y="357900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97211" y="364421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03304" y="324948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68932" y="312406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11510" y="319119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99919" y="332805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80012" y="371119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36436" y="350389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68984" y="348146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61686" y="326777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01044" y="313147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39556" y="350246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9427" y="345189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90807" y="311025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18899" y="318378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00498" y="343451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12989" y="323296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92484" y="356173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50372" y="36301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74853" y="329234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45784" y="318547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78105" y="320975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40080" y="370292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86063" y="371312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69169" y="320963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59518" y="363564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574597" y="28437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6414"/>
                </a:solidFill>
              </a:rPr>
              <a:t>EL 200개, d_p 0.01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688336" y="2962656"/>
            <a:ext cx="932688" cy="932688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240280" y="3922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IBM 구 R 0.15, ρ_b/ρ_f 4 (자유)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532888" y="2745029"/>
            <a:ext cx="373075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1896466" y="2488997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u = 0.5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완전 주기 단위 상자, 8³ 요소, N = 5 — 정지한 자유 IBM 구에 입자 구름을 발사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영역·격자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완전 주기 단위 상자, 8³ 요소, N = 5 (GLL ≈ 0.025)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유체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ρ = 1, μ = 0.01, dt 5e-3, 240 스텝 (t = 1.2), 4 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IBM 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 0.15 (d = 0.3, 격자 12칸), ρ_b/ρ_f 4, 마커 간격 0.025, 가우시안 FWHM 0.06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EL 입자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200개, d_p 0.01 (격자 0.4칸), ρ_p 2000, +x로 0.5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접촉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연성 구 k_n 500, 반발계수 0.9, 입자 서브스텝 10 (접촉시간 4.5e-3 vs dt 5e-3)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외력 없음 → P_fluid + P_EL + P_body = P_0; gap/d_p, 접촉 수, 반발 수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V5 결과 — 입자가 구 안으로 들어가지 않고 운동량이 0.3 % 이내로 닫힘</a:t>
            </a:r>
            <a:endParaRPr lang="en-US" sz="2600" dirty="0"/>
          </a:p>
        </p:txBody>
      </p:sp>
      <p:pic>
        <p:nvPicPr>
          <p:cNvPr id="3" name="collision_snaps.png" descr="/private/tmp/claude-501/-Users-byeong-cheonkim-Documents-MFC-BCKim/4be11685-c523-42bf-9340-310b6e7e98eb/scratchpad/deck/img/collision_sn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766560" cy="795528"/>
          </a:xfrm>
          <a:prstGeom prst="rect">
            <a:avLst/>
          </a:prstGeom>
        </p:spPr>
      </p:pic>
      <p:pic>
        <p:nvPicPr>
          <p:cNvPr id="4" name="collision_vel.png" descr="/private/tmp/claude-501/-Users-byeong-cheonkim-Documents-MFC-BCKim/4be11685-c523-42bf-9340-310b6e7e98eb/scratchpad/deck/img/collision_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3566160" cy="2313432"/>
          </a:xfrm>
          <a:prstGeom prst="rect">
            <a:avLst/>
          </a:prstGeom>
        </p:spPr>
      </p:pic>
      <p:pic>
        <p:nvPicPr>
          <p:cNvPr id="5" name="frame_0030.png" descr="/Users/byeong-cheonkim/Documents/NekRS-EL-IBM/cases/el_ibm_collision/snapshots/frames/frame_00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103120"/>
            <a:ext cx="3108960" cy="233172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 = 1.2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구 속도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 → 0.271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P_f / P_EL / P_b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3.74e-2 / 5.55e-2 / 1.15e-2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(ΣP − P_0)/P_0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−3.2e-3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최소 gap/d_p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0.109 (내부 입자 없음)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반발 입자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 / 200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마커 슬립 RMS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4.8e-3 (구 속도의 2 %)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 txBox="1"/>
          <p:nvPr/>
        </p:nvSpPr>
        <p:spPr>
          <a:xfrm>
            <a:off x="7589520" y="384048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손실 0.3 %는 강성 접촉에서의 명시적 결합 지연; 마커 간격과 무관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구가 원방장을 크게 바꾸지 않아 교환의 검증이지 항력 검증은 아님</a:t>
            </a:r>
            <a:endParaRPr lang="en-US" sz="1150" dirty="0"/>
          </a:p>
        </p:txBody>
      </p:sp>
      <p:sp>
        <p:nvSpPr>
          <p:cNvPr id="8" name="Text 2"/>
          <p:cNvSpPr txBox="1"/>
          <p:nvPr/>
        </p:nvSpPr>
        <p:spPr>
          <a:xfrm>
            <a:off x="457200" y="4663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위: 자오면 스냅샷(t = 0, 0.4, 0.8, 1.2). 아래 왼쪽: 구·EL 속도. 오른쪽: ParaView (φ_p 단면, t = 0.6)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V6 설정 — ppiclF 라이브러리 패치 전·후 회귀 (ppiclf_regression.py)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3000" y="1881554"/>
            <a:ext cx="4023360" cy="3094892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58894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ppiclF examples/stokes_2d (랭크 1, 2, 3)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103970" y="300944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304" y="349969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33040" y="309363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2626" y="251722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2472" y="324150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8128" y="266828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8778" y="375872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3431" y="351346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1367" y="363277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7386" y="312323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6191" y="379974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8743" y="237638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65458" y="318981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8783" y="358454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6239" y="302565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61026" y="344266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5143" y="235204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41887" y="351730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09050" y="336597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84327" y="268131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1671" y="333553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16538" y="244391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2319" y="250909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2599" y="351197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11522" y="325556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6127" y="286702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0655" y="353080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58962" y="373767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0711" y="323927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3871" y="287620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6890" y="337441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15127" y="311004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17207" y="257980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60266" y="319741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4335" y="351095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18695" y="367324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07122" y="269087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6367" y="237874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4319" y="254581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34465" y="288641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36183" y="383994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00063" y="332403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07257" y="326822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11815" y="273639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93959" y="239720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53529" y="332048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49247" y="3194619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51991" y="234438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80289" y="252737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55487" y="315135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81167" y="264977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3521" y="346798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16518" y="363823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94" y="279755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19209" y="253159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60374" y="259199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38934" y="381935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24361" y="384473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73038" y="259172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81542" y="365191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17009" y="379669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40494" y="312158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60254" y="3326863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62113" y="341910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90774" y="366577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24126" y="387583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87705" y="374360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88838" y="370848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59142" y="323556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58745" y="270691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62718" y="273388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51286" y="243767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924289" y="2888128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98398" y="332106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07566" y="251381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28273" y="377142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02886" y="340675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434990" y="2948161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919753" y="329353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83190" y="247514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40566" y="322489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63689" y="248610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725294" y="3105306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10278" y="282820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88112" y="2380750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36206" y="3233982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30110" y="278971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79008" y="2461665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01910" y="2345354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28094" y="2593617"/>
            <a:ext cx="32004" cy="32004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69848" y="207146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6414"/>
                </a:solidFill>
              </a:rPr>
              <a:t>랭크당 250개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1464869" y="3583745"/>
            <a:ext cx="9144" cy="928468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97" name="Text 95"/>
          <p:cNvSpPr txBox="1"/>
          <p:nvPr/>
        </p:nvSpPr>
        <p:spPr>
          <a:xfrm>
            <a:off x="641909" y="3327713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g = 9.8, Stokes τ = 1/9.8</a:t>
            </a:r>
            <a:endParaRPr lang="en-US" sz="950" dirty="0"/>
          </a:p>
        </p:txBody>
      </p:sp>
      <p:sp>
        <p:nvSpPr>
          <p:cNvPr id="98" name="Text 96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정확해 v(t) = −gτ(1 − e^(−t/τ))를 입자마다 VTU 태그로 대조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대상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patches/ppiclF/0001–0005 (이동 후 RK3 경계, 겹침 격자 노드 검사, 투영 종료, 주기 고스트 중복 제거, 필터-주기 abort)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빌드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원본·패치판을 같은 방식으로 (gfortran, -DPPICLC 없음)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문제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ppiclF 자체 예제 stokes_2d: 랭크당 250개, Stokes 항력 τ_p 1/9.8, g 9.8, 정지 출발, dt 1e-4, 10 000 스텝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1, 2, 3; ppiclF tests/test1 (보간·투영 진단)도 비교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정확해와 그 적분, 입자별 (VTU TIME은 스텝 시작 시각, 상태는 dt 뒤)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V6 결과 — 원본은 다중 랭크에서 RK 단계를 잃고, 패치판은 정확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2194560"/>
                <a:gridCol w="237744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라이브러리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랭크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 최대 오차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변위 최대 오차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1e-5 이상 벗어난 입자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원본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3.7e-8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3.4e-8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원본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2, 3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1.8e-3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1.7e-3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/ 500, 1 / 750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패치판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1, 2, 3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3.7e-8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3.4e-8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10896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1821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3.7e-8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673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패치판 속도 오차, 모든 랭크 수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97680" y="310896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31821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 / 500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37673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원본에서 이동 후 RK 단계를 잃는 입자 (패치 0001)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38160" y="310896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31821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동일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7673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test1 진단 (TimeI 9.3e-9, Prjct 1.3e-8)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패치 0001이 고치는 결함은 2 랭크 이상에서만 나타남; 나머지 패치는 조건이 아니면 결과를 바꾸지 않음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이 회귀로 V7의 Nek5000 비교에서는 원본 라이브러리를 4 랭크로 써도 되는지(정확한 랭크 수) 판단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V7 설정 — nekRS + ppiclF vs Nek5000 + 원본 ppiclF (교차 코드)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020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11858" y="324290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2752" y="412936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9776" y="339513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9456" y="235289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8882" y="366251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5525" y="2626031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9210" y="459774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4624" y="415426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9847" y="436999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7680" y="344865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32666" y="467192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7365" y="209822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7553" y="356905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3759" y="428279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2703" y="327221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9583" y="402626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6401" y="205420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86612" y="416122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0329" y="388758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69407" y="264958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23718" y="383255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2479" y="2220330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07401" y="233818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56708" y="4151580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6785" y="368794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63070" y="298538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20206" y="4185620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99806" y="455967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2976" y="365848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4964" y="300198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12296" y="390283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65934" y="342481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67541" y="246604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00814" y="358280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78504" y="414973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18691" y="444318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96112" y="266688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41438" y="210249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33037" y="240458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30877" y="302045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295" y="474460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45203" y="381175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41671" y="371083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8829" y="274918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5940" y="213586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9245" y="380532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78663" y="357774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89874" y="204036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6287" y="237124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83485" y="349951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89692" y="259256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47420" y="407203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07918" y="437988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18082" y="285977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87270" y="237887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82716" y="248809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11603" y="470737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68524" y="475326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42502" y="2487591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99073" y="440461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21934" y="466640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21900" y="344568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18987" y="381686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84060" y="398365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51661" y="442968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00161" y="480949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85653" y="457040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68347" y="450690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7218" y="3651771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63275" y="269588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02709" y="274465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84784" y="220905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45741" y="3023550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89371" y="3806380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55546" y="234672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71547" y="462070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61021" y="396132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22192" y="3132100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69508" y="375660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50346" y="2276800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17410" y="363248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76186" y="229661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1972" y="341624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75823" y="291519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22332" y="210611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218586" y="364891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32057" y="2845601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42570" y="225242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64812" y="204211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16863" y="2491021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971523" y="460091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61401" y="325928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64865" y="371682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39945" y="262276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44915" y="3569681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8750" y="279227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884395" y="377948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46105" y="204060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83144" y="438079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33689" y="434032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299595" y="333550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20734" y="475163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24386" y="337258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838072" y="372361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54208" y="297211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391112" y="274165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94226" y="2272266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416253" y="3705674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062682" y="431290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02680" y="364488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41495" y="322155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977592" y="4355581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096122" y="411072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864557" y="3385135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664658" y="4735062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909175" y="2737099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016191" y="326372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258503" y="4518658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872593" y="4187443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831020" y="4722707"/>
            <a:ext cx="32004" cy="32004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848917" y="2185416"/>
            <a:ext cx="9144" cy="777240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29" name="Text 127"/>
          <p:cNvSpPr txBox="1"/>
          <p:nvPr/>
        </p:nvSpPr>
        <p:spPr>
          <a:xfrm>
            <a:off x="1025957" y="19293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g = −1</a:t>
            </a:r>
            <a:endParaRPr lang="en-US" sz="950" dirty="0"/>
          </a:p>
        </p:txBody>
      </p:sp>
      <p:sp>
        <p:nvSpPr>
          <p:cNvPr id="130" name="Text 128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V2의 상자를 ppiclF가 원래 쓰이던 Nek5000 v19 예제 배선으로 그대로 해석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 코드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Nek5000 v19 + 원본(비패치) ppiclF, Nek5000 예제 배선 (GetProFldIJKEF 소스 F/(1−φ_p)/ρ, userchk에서 보간·IntegrateParticle), BDF2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이 코드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nekRS + ppiclF, BDF3/EXT, design.md §1의 소스 처리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공통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V2의 격자·dt·필터·입자 수 (무작위 위치만 다름), 4 랭크씩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비교량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P_f (유체 운동량), P_p (입자 운동량), Σf (항력 합) at t = 0.04, 0.12, 0.20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자료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cases/settling_twoway/nek5000_reference (입력, README, 로그)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V7 결과 — t = 0.2에서 두 코드가 0.2–1.2 % 이내로 일치</a:t>
            </a:r>
            <a:endParaRPr lang="en-US" sz="2600" dirty="0"/>
          </a:p>
        </p:txBody>
      </p:sp>
      <p:pic>
        <p:nvPicPr>
          <p:cNvPr id="3" name="validation.png" descr="/Users/byeong-cheonkim/Documents/NekRS-EL-IBM/docs/img/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11247120" cy="322783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7589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1828800"/>
                <a:gridCol w="18288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코드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P_f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P_p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Σf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0.04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Nek5000 / nekRS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−5.682e-3 / −5.333e-3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−1.583e-2 / −1.552e-2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−0.2306 / −0.2283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0.12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Nek5000 / nekRS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−2.974e-2 / −2.919e-2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−3.389e-2 / −3.362e-2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−0.3297 / −0.3300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Nek5000 / nekRS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−5.696e-2 / −5.631e-2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−4.883e-2 / −4.851e-2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−0.3404 / −0.3410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21040" y="45262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 = 0.2: P_f 1.2 %, P_p 0.7 %, Σf 0.2 %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초기(t = 0.04) 6 % 차이는 시간적분(BDF2 vs BDF3/EXT)과 다른 무작위 위치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운동량 수지: Nek5000 1 %, nekRS 0.1 %; 디바이스 경로(V3)도 같은 띠 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V8 설정 — TAB 변형·분열 (tab_breakup)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3000" y="2171700"/>
            <a:ext cx="4023360" cy="251460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8790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정지 기체 (ρ 1, ν 5e-5), 일방향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67205" y="3147365"/>
            <a:ext cx="563270" cy="56327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738067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We 10 … 300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2344" y="3429000"/>
            <a:ext cx="885139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371954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상대속도 U → 변형 y(t)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78885" y="3429000"/>
            <a:ext cx="885139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498494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y = 1 → 분열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단일 액적 11개를 서로 다른 We로 정지 기체에 놓고 TAB 진동자 적분 (디바이스 경로)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액적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 0.002, σ 1e-4, ρ_l 1000, μ_l 1e-3 (Oh 0.07)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We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10, 12, 15, 18, 25, 35, 50, 80, 120, 200, 300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dt 2e-3, 600 스텝, 일방향 결합, 1 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 (i)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처음 3 스텝의 y, y', v vs Python SSP-RK3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 (ii)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감쇠 진동 주기 2π/√(ω² − ζ²), ω² = 8σ/(ρ_l r³)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 (iii, iv)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TAB 임계 We = 12; Pilch &amp; Erdman (1987) T_ini = 1.9 (We − 12)^(−1/4)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V8 결과 — 진동자는 정확, 분열 개시는 저 We에서 실험 곡선 위</a:t>
            </a:r>
            <a:endParaRPr lang="en-US" sz="2600" dirty="0"/>
          </a:p>
        </p:txBody>
      </p:sp>
      <p:pic>
        <p:nvPicPr>
          <p:cNvPr id="3" name="tab_breakup.png" descr="/Users/byeong-cheonkim/Documents/NekRS-EL-IBM/docs/img/tab_brea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7315200" cy="2660904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검사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처음 3 스텝 vs Python SSP-RK3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6자리 일치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We 10 진동 주기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0.224 / 0.222 / 0.224 vs 해석 0.2230 (0.5 %)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We 10, 12, 15 분열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없음 (감쇠가 임계를 12 위로)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 (We 18 → 120)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1.17, 1.06, 1.00, 1.00, 0.95, 0.93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Pilch &amp; Erdman T_ini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1.21, 1.00, 0.87, 0.77, 0.66, 0.59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자식 크기 d_32/d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0.40 (We 18) → 0.10 (We 120)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046720" y="1188720"/>
            <a:ext cx="3657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저 We에서는 측정 개시 곡선 위, We 120에서는 1.6x 위 (TAB 포화)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미해결: We ≥ 200에서 자식이 몇 스텝 만에 재분열 → τ_p &lt; dt → 명시적 항력 불안정; dt를 줄이거나 음해법 항력 필요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V9 설정 — 파셀 평면 제트 vs Bickley (jet_bickley)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11580" y="1874520"/>
            <a:ext cx="388620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11580" y="1581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free-slip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11580" y="50200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free-slip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006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유입 (5 % 동류)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14350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5420" y="3398671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2584" y="349716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2041" y="341558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197" y="3299781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9322" y="3445294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5235" y="333012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5060" y="354920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8068" y="349993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7636" y="352390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4210" y="3421532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6980" y="3557451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2924" y="3271484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70806" y="343491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8699" y="351421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4778" y="3401928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27490" y="348571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47944" y="326659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75839" y="350070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33459" y="3470302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21836" y="333274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29787" y="346418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6876" y="3285051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54055" y="329814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14781" y="349963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20379" y="344812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62760" y="337005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94502" y="350341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83169" y="354497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57152" y="344484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41590" y="3371902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7886" y="347199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4351" y="341888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5244" y="331235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83729" y="343643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93557" y="349942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38105" y="353203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03339" y="3334668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17409" y="327195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23853" y="330552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44875" y="3373954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45107" y="356552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167" y="346187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17538" y="345066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49293" y="334381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97688" y="327566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93968" y="3461162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93645" y="343587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2096" y="326505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92325" y="330182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96324" y="342718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77550" y="3326411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76288" y="349079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21009" y="3525002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82211" y="3356101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09538" y="330266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40341" y="3314803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45279" y="356139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10234" y="356648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18000" y="331474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93873" y="352775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1018" y="355683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17665" y="3421202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82714" y="3462444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41088" y="348097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11977" y="353053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38921" y="3572737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53084" y="354617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410136" y="353911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26176" y="344410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96207" y="3337891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84782" y="334331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308157" y="328379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97577" y="3374298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199594" y="346127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03024" y="329909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11914" y="3551760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72733" y="3478495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28939" y="3386359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66337" y="3455748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22358" y="3291326"/>
            <a:ext cx="22860" cy="228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520190" y="2999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6414"/>
                </a:solidFill>
              </a:rPr>
              <a:t>파셀 d_p 0.0005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1405890" y="3429000"/>
            <a:ext cx="349758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90" name="Text 88"/>
          <p:cNvSpPr txBox="1"/>
          <p:nvPr/>
        </p:nvSpPr>
        <p:spPr>
          <a:xfrm>
            <a:off x="757809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슬롯 0.04, u_jet 10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543300" y="3429000"/>
            <a:ext cx="1165860" cy="9144"/>
          </a:xfrm>
          <a:prstGeom prst="line">
            <a:avLst/>
          </a:prstGeom>
          <a:noFill/>
          <a:ln w="22225">
            <a:solidFill>
              <a:srgbClr val="5B8E7D"/>
            </a:solidFill>
            <a:prstDash val="solid"/>
            <a:tailEnd type="triangle"/>
          </a:ln>
        </p:spPr>
      </p:sp>
      <p:sp>
        <p:nvSpPr>
          <p:cNvPr id="92" name="Text 90"/>
          <p:cNvSpPr txBox="1"/>
          <p:nvPr/>
        </p:nvSpPr>
        <p:spPr>
          <a:xfrm>
            <a:off x="3303270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8E7D"/>
                </a:solidFill>
              </a:rPr>
              <a:t>Bickley 제트 u_c ∝ x^(−1/3)</a:t>
            </a:r>
            <a:endParaRPr lang="en-US" sz="950" dirty="0"/>
          </a:p>
        </p:txBody>
      </p:sp>
      <p:sp>
        <p:nvSpPr>
          <p:cNvPr id="93" name="Text 91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열린 슬래브, 40 × 32 × 1 요소, N = 5; 희박(질량부하 0.01)하게 주입해 기체만 남김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영역·격자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유입(동류 5 %)·유출, 옆면 free-slip, 40 × 32 × 1 요소, N = 5, ν 5e-4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주입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슬롯 0.04 (x = 0.5), u_jet 10, d_p 0.0005 (τ_p 0.016, 정지 거리 0.16), 슬롯 내 φ 5e-6 (질량부하 0.01)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스텝당 파셀 10개, dt 2.5e-3, 8000 스텝 (t = 20, 정상), 마지막 11 700 파셀, 4 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대조군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같은 J를 고정 가우시안 체적력으로 준 nekRS 단독 실행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Bickley: u_c = 0.4543 (J²/νx)^(1/3), u = u_c sech²(…); J는 실행에서 측정한 값 (0.0173)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민감도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필터 폭 0.04 → 0.06, 스텝당 파셀 10 → 40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V9 결과 — 파셀 제트가 Bickley의 감쇠와 sech² 분포를 재현</a:t>
            </a:r>
            <a:endParaRPr lang="en-US" sz="2600" dirty="0"/>
          </a:p>
        </p:txBody>
      </p:sp>
      <p:pic>
        <p:nvPicPr>
          <p:cNvPr id="3" name="bickley.png" descr="/Users/byeong-cheonkim/Documents/NekRS-EL-IBM/docs/img/bickl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669280" cy="4123944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0.9 &lt; x &lt; 1.8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파셀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체적력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∫u(u − u_co)dy (창 내 일정)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0.0169 (0.3 %)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0.0173 (0.3 %)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u_c 감쇠에서 구한 J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0.0168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0.0165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가상 원점 x0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0.572 (노즐 + 정지거리)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0.325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u_c vs Bickley 최대 오차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3.5 %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3.7 %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반폭 vs Bickley 최대 오차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13 %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12 %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x = 1.2 분포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sech²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sech²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0" y="429768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파셀 제트는 체적력 제트보다 2.3 % 적게 운반 (0.5 %는 파셀에 남음)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반폭 오차는 옆면 구속(두 실행 공유, 서로 6 % 차) — 결합 문제 아님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민감도: J는 세 자리까지 동일, 감쇠 상수 1–2 %, 필터는 가상 원점만 이동 (0.57 → 0.51)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scripts/jet_bickley.py: 중심선 속도, 반폭, x = 1.2 분포 (docs/img/bickley.png)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2. IBM 검증 (V10–V12)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NekIBM의 입력으로 고정 구 Re 10·Re 100, 침강 유리구 — 노트북 격자와 Tuolumne(MI300A) 고해상도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V10 설정 — 고정 구 Re 10, NekIBM simple 상자 (ibm_fixed_sphere, _fine)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020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유입 u = 1 (y)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 (x, z)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 (x, z)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6060" y="3040380"/>
            <a:ext cx="777240" cy="777240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38450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구 d = 0.01, 마커 1963개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flipV="1">
            <a:off x="3154680" y="4050792"/>
            <a:ext cx="9144" cy="683971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331720" y="38221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u_in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(4d)³ 상자, 20³ 요소, N = 5 (GLL ≈ d/25); 가우시안 폭 두 가지 (0.08 d, 0.04 d)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영역·격자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NekIBM IBM_test/simple: (4d)³, 20³ 요소, N = 5 (GLL ≈ d/25)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유체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유입 u = 1, 유출 (y), x·z 주기, ν 1e-3 (Re = 10)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IBM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마커 1963개 (d/25); FWHM 0.08 d (GLL 2칸) vs _fine 0.04 d (1칸, 마커 간격 절반)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dt 2.5e-4, 200 스텝 (U t/d = 5), 4 랭크; Tuolumne 4 MI300A 재실행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측정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C_d = F_y/(ρ u² π d²/8) (마커 힘 합), 횡력, 마커 슬립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비구속 구 Re 10: Schiller–Naumann 4.15, 표준 항력 4.30; 상자는 비구속 아님 (측면 주기 4d, φ 0.8 %)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V10 결과 — 두 가우시안 폭이 비구속 기준값을 양쪽에서 감쌈</a:t>
            </a:r>
            <a:endParaRPr lang="en-US" sz="2600" dirty="0"/>
          </a:p>
        </p:txBody>
      </p:sp>
      <p:pic>
        <p:nvPicPr>
          <p:cNvPr id="3" name="re10_curve.png" descr="/private/tmp/claude-501/-Users-byeong-cheonkim-Documents-MFC-BCKim/4be11685-c523-42bf-9340-310b6e7e98eb/scratchpad/deck/img/re10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389120" cy="3694176"/>
          </a:xfrm>
          <a:prstGeom prst="rect">
            <a:avLst/>
          </a:prstGeom>
        </p:spPr>
      </p:pic>
      <p:pic>
        <p:nvPicPr>
          <p:cNvPr id="4" name="re10_slices.png" descr="/private/tmp/claude-501/-Users-byeong-cheonkim-Documents-MFC-BCKim/4be11685-c523-42bf-9340-310b6e7e98eb/scratchpad/deck/img/re10_sl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43000"/>
            <a:ext cx="6675120" cy="3675888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8348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554480"/>
                <a:gridCol w="10972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FWHM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C_d (U t/d = 5)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마커 슬립 / u_in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횡력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0.08 d (GLL 2칸)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4.694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18 %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1e-10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0.04 d (GLL 1칸)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4.090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31 %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1e-10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Tuolumne, 4 MI300A, 0.08 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4.6937 (비트 동일)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406640" y="49834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넓은 가우시안은 유효 몸체를 키우고(정체 영역이 원 밖까지), 한 칸 폭은 no-slip을 덜 강제(슬립 31 %)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항력 수렴은 필터를 좁히는 게 아니라 격자를 세밀하게 해야 함 (→ V11); 대칭대로 횡력 소멸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V11 설정 — 고정 구 Re 100 vs Johnson &amp; Patel (ibm_sphere_re100, hires)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21992" y="1874520"/>
            <a:ext cx="1865376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21992" y="15819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502005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유입 u = 1 (y)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490472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 (x, z)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33088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 (x, z)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38094" y="3623310"/>
            <a:ext cx="233172" cy="233172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388391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구 d = 0.01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flipV="1">
            <a:off x="3154680" y="4299509"/>
            <a:ext cx="9144" cy="528523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331720" y="4482389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u_in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NekIBM fixsphere/Re100 상자 8d × 15d × 8d; 노트북 격자와 NekIBM 격자(hires)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영역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8d × 15d × 8d, d 0.01, 유입·유출 (y), x·z 주기, ν 1e-4 (Re 100)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노트북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16 × 30 × 16 요소, N 5 (d/10), 마커 d/17, FWHM 0.12 d, dt 2e-4, 500 스텝, 4 랭크 (CPU)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hires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32 × 60 × 32 (NekIBM 격자), N 7 (d/28, 모서리 d/60), 마커 d/50 (7854개), FWHM 0.04 d, dt 5e-5, 2000 스텝, 8 MI300A (1.1 s/스텝, 41 분)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종료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둘 다 U t/d = 10; 마지막 스텝에 z = 0 평면 저장 (fieldDump.hpp)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Johnson &amp; Patel (1999): C_d 1.09, 정상 와 길이 0.87 d (정상 상태)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V11 결과 — 해상도를 올리면 항력 오차가 반으로 (+18 % → +10 %)</a:t>
            </a:r>
            <a:endParaRPr lang="en-US" sz="2600" dirty="0"/>
          </a:p>
        </p:txBody>
      </p:sp>
      <p:pic>
        <p:nvPicPr>
          <p:cNvPr id="3" name="re100_curve.png" descr="/private/tmp/claude-501/-Users-byeong-cheonkim-Documents-MFC-BCKim/4be11685-c523-42bf-9340-310b6e7e98eb/scratchpad/deck/img/re100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480560" cy="3685032"/>
          </a:xfrm>
          <a:prstGeom prst="rect">
            <a:avLst/>
          </a:prstGeom>
        </p:spPr>
      </p:pic>
      <p:pic>
        <p:nvPicPr>
          <p:cNvPr id="4" name="re100_slices.png" descr="/private/tmp/claude-501/-Users-byeong-cheonkim-Documents-MFC-BCKim/4be11685-c523-42bf-9340-310b6e7e98eb/scratchpad/deck/img/re100_sl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4809744" cy="368503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8348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2801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U t/d = 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노트북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hires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J &amp; 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C_d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1.286 (+18 %)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1.201 (+10 %)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1.09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정상 와 길이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1.00 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0.95 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0.87 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마커 슬립 / u_in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3.9 %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2.8 %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dC_d/d(Ut/d) 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−0.002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040880" y="49834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가우시안 경계 폭이 주 오차; 세밀화하면 Johnson &amp; Patel 쪽으로 수렴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남은 10 %의 일부는 U t/d = 10에서 아직 발달 중인 후류, 일부는 경계 폭; 8d 주기(φ 0.5 %)의 작은 폐색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V12 설정 — 침강 유리구 vs Mordant &amp; Pinton (ibm_settling_sphere)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532888" y="1874520"/>
            <a:ext cx="1243584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32888" y="158191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532888" y="502005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801368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22192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7629" y="2409261"/>
            <a:ext cx="174102" cy="174102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2610795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d = 1/6, ρ_p/ρ_f 2.56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7755" y="2807208"/>
            <a:ext cx="9144" cy="777240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04795" y="25511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g = 9.81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NekIBM Set1sphere: 0.5 mm 유리구가 물에서 정지 상태에서 침강 (Ga 49.1)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물리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Mordant &amp; Pinton의 0.5 mm 유리구, 무차원 d = 1/6, ν 0.005416 (Ga 49.1), ρ_p/ρ_f 2.56, g 9.81, 정지 출발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노트북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1.2 × 3 × 1.2 (7.2d × 18d × 7.2d) 주기, 10 × 25 × 10 요소, N 7 (d/10), 마커 d/17, FWHM 0.12 d, dt 2e-3, 500 스텝 (t = 1)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_fine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같은 격자 N 8, FWHM 0.10 d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hires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1.2 × 10 × 1.2 (60d 기둥), 21 × 180 × 21, N 7 (d/20, NekIBM 격자), 마커 d/20, FWHM 0.10 d, dt 1e-3, 16 MI300A (2.5 s/스텝)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Mordant &amp; Pinton (2000): Re_t 41, u_t 1.332; 표준 항력 ODE (S–N + 부가질량) 1.427 (7 % 높음)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V12 결과 — 노트북 −6 %, NekIBM 격자에서 −2.5 % (해상도가 주원인)</a:t>
            </a:r>
            <a:endParaRPr lang="en-US" sz="2600" dirty="0"/>
          </a:p>
        </p:txBody>
      </p:sp>
      <p:pic>
        <p:nvPicPr>
          <p:cNvPr id="3" name="settle_curve.png" descr="/private/tmp/claude-501/-Users-byeong-cheonkim-Documents-MFC-BCKim/4be11685-c523-42bf-9340-310b6e7e98eb/scratchpad/deck/img/settle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264408"/>
          </a:xfrm>
          <a:prstGeom prst="rect">
            <a:avLst/>
          </a:prstGeom>
        </p:spPr>
      </p:pic>
      <p:pic>
        <p:nvPicPr>
          <p:cNvPr id="4" name="settle_slice.png" descr="/private/tmp/claude-501/-Users-byeong-cheonkim-Documents-MFC-BCKim/4be11685-c523-42bf-9340-310b6e7e98eb/scratchpad/deck/img/settle_sl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566160" cy="329184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188720"/>
          <a:ext cx="3291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502920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Re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v / u_t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노트북, N 7 (t = 1)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1.249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38.4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0.937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_fine, N 8, 0.10 d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1.244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38.3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0.933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hires (t = 1 / 1.2)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1.273 / 1.299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39.2 / 40.0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0.956 / 0.975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Mordant &amp; Pinton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1.332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필터 폭 변화는 0.4 %; NekIBM 격자(d/20)에서 적자가 2.5 %로 줄고 속도는 아직 상승 중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남은 차이는 7.2d 주기 기둥의 방해 효과 크기 (Hasimoto, Stokes 한계 14 %, Re 41에서는 훨씬 작음); 더 넓은 상자로 분리 가능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hires는 pdebug 60분 제한으로 2000 스텝 중 1207에서 종료; 32 랭크는 설정 단계 segfault (16 사용)</a:t>
            </a:r>
            <a:endParaRPr lang="en-US" sz="1050" dirty="0"/>
          </a:p>
        </p:txBody>
      </p:sp>
      <p:sp>
        <p:nvSpPr>
          <p:cNvPr id="7" name="Text 2"/>
          <p:cNvSpPr txBox="1"/>
          <p:nvPr/>
        </p:nvSpPr>
        <p:spPr>
          <a:xfrm>
            <a:off x="466344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가운데: 구 좌표계 |u − v_b|/|v_b| 단면 (t = 1)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3. Pilobolus 준비 검증 (V13–V15)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필터 폭 분리(ppiclF 패치 0006), 처방 운동 물체, 부착 접촉 — 발사 해석에 필요한 세 기능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V13 설정 — EL·IBM 필터 폭 분리 (패치 0006, Config::filterWidthIbm)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V5 충돌 케이스 (주기 상자)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02912" y="338126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091" y="355855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496" y="341171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2432" y="320326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58317" y="346518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7645" y="325789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6382" y="365223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7465" y="356353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04510" y="360668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2076" y="342241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7074" y="366706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54013" y="315233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6051" y="344649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3292" y="358924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63081" y="338712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457" y="353793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3821" y="314352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7863" y="356492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34606" y="351020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4422" y="326260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25284" y="349919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73036" y="317675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2021" y="320032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1882" y="356300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65897" y="347027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3154" y="332976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4582" y="356980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80502" y="364462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55136" y="346438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09533" y="333308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3000" y="351325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73727" y="34176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4049" y="322589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80703" y="344924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76241" y="356263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44279" y="362132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79763" y="326606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08828" y="315318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47148" y="321360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46716" y="333677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667866" y="2874874"/>
            <a:ext cx="11082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6414"/>
                </a:solidFill>
              </a:rPr>
              <a:t>EL 투영 폭 σ_EL (0.06)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43784" y="2962656"/>
            <a:ext cx="932688" cy="932688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395728" y="3922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IBM 마커 폭 σ_IBM (0.03)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같은 투영 루틴 안에서 입자마다 다른 가우시안 폭 (PPICLF_R_JFILT)</a:t>
            </a:r>
            <a:endParaRPr lang="en-US" sz="9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변경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ppiclF 패치 0006: 입자별 가우시안 폭 PPICLF_R_JFILT (실제·고스트 루프), 전역 폭보다 크면 abort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인터페이스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Config::filterWidthIbm; 0이면 EL 폭과 동일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케이스 A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V5 충돌, filter_width_ibm = 0 (동일) — 패치 전·후 비교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케이스 B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V5 충돌, EL 0.06 / IBM 0.03 (IBM 폭 절반)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케이스 C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V11 노트북 Re 100 (마커만) 패치 전·후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검사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구 속도, 운동량 수지, 마커 슬립, 비트 동일성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V13 결과 — 동일 폭은 결과 재현, 분리 시 수지 유지·슬립 절반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실행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구 u (t = 1.2)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(ΣP − P_0)/P_0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마커 슬립 (끝)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동일 폭, 패치 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0.27100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−3.155e-3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4.843e-3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동일 폭, 패치 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0.27100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−3.155e-3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4.844e-3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다른 자릿수 모두 동일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EL 0.06 / IBM 0.03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0.27176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−4.542e-3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6.670e-3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충돌 중 슬립 1.2e-2 vs 2.0e-2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Re 100 C_d (U t/d 10)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1.2860 전·후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비트 동일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38328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4564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비트 동일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416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동일 폭에서 패치는 inert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97680" y="338328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34564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0.45 %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40416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분리 시 운동량 수지 (0.32 % → 0.45 %, 같은 지연 기구)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38160" y="338328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34564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2.28 → 1.64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0416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명시적 물체 갱신의 ρ_b/ρ_f 하한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Pilobolus 수액 케이스에서 EL 폭 250 µm, IBM 폭 50 µm로 사용 (design.md §7.1)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V14 설정 — 처방 운동 구 vs 고정 구 (ibm_sphere_moving)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21992" y="1874520"/>
            <a:ext cx="1865376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21992" y="15819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502005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490472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33088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38094" y="2441905"/>
            <a:ext cx="233172" cy="233172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2702509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구, y = +5d에서 출발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14293" y="2869387"/>
            <a:ext cx="9144" cy="870509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891333" y="2613355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v = −u_in (처방)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V11 상자를 완전 주기로, 유체 정지; 갈릴레이 변환으로 고정 구와 같아야 함</a:t>
            </a:r>
            <a:endParaRPr lang="en-US" sz="9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기능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Body::prescribed — 스텝 시작에 UDF가 x(t), v(t)를 주고 동역학은 건너뜀; 유체력은 보고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영역·격자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V11 노트북 상자 (16 × 30 × 16, N 5) 완전 주기, 유체 정지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 0.01, y = +5d에서 −u_in = −1 (y)로 이동, 마커·FWHM은 고정 구와 동일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dt 2e-4, 500 스텝 (U t/d = 10), 4 랭크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같은 격자의 ibm_sphere_re100 (차이: 유입·유출 경계와 시동)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측정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C_d = F_y/(0.5 ρ u_in² π d²/4), U t/d = 8–10 평균 (보고 11회)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V14 결과 — 처방 운동 구의 항력이 고정 구와 2.4 % 이내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 t/d = 8–10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C_d 평균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표준편차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마커 슬립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처방 운동 구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1.257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0.029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3.7–4.0 %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고정 구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1.289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0.001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3.9 %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80960" y="256032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±2 %의 스텝별 진동: 움직이는 물체의 마커가 GLL 셀을 가로지르며 명시적 직접 강제가 매 스텝 새 격자 속도를 봄 — 평균되고 해상도로 줄어듦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 t/d = 10의 5 % 하락은 15d 주기 기둥을 돌아 자기 시동 교란에 도달한 것 — 창은 9.8까지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Pilobolus 발사의 처방 v(t) 구동에 이 기능을 사용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V15 설정 — 부착 접촉: 물체에 포획되는 EL 입자 (el_ibm_adhesion)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874520"/>
            <a:ext cx="3108960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020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주기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0137" y="337748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7002" y="357447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10785" y="341131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84048" y="317970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1698" y="347073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2063" y="324040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3993" y="367856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5196" y="358001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3023" y="362795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83653" y="342320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4761" y="369504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9138" y="31231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10291" y="344996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9448" y="360857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5880" y="338400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52965" y="355156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1146" y="311333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12304" y="358155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5353" y="35207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30703" y="324563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3884" y="350851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84719" y="31502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3591" y="317643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27881" y="357941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10120" y="347638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07073" y="332025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19770" y="358697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15236" y="367010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64830" y="346983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8605" y="332394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9123" y="352413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07709" y="341790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8066" y="320485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15460" y="345301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99391" y="357900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97211" y="364421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03304" y="324948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68932" y="312406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11510" y="319119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99919" y="332805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80012" y="371119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36436" y="350389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68984" y="3481469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61686" y="3267771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01044" y="313147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39556" y="350246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9427" y="345189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90807" y="3110255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18899" y="318378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00498" y="343451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12989" y="323296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92484" y="356173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50372" y="3630147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74853" y="3292346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45784" y="318547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78105" y="3209750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40080" y="3702924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86063" y="3713122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69169" y="3209638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59518" y="3635643"/>
            <a:ext cx="27432" cy="2743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574597" y="28437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6414"/>
                </a:solidFill>
              </a:rPr>
              <a:t>EL 200개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704816" y="3368036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69845" y="3614275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00413" y="3410323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66402" y="3120810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14050" y="3484595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85605" y="3196682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0394" y="3744382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05574" y="3621192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1749" y="3681118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11343" y="3425189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75509" y="3764985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6666" y="3050070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70339" y="3458634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8212" y="3656895"/>
            <a:ext cx="27432" cy="27432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88336" y="2962656"/>
            <a:ext cx="932688" cy="932688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240280" y="3922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3"/>
                </a:solidFill>
              </a:rPr>
              <a:t>IBM 구 (자유), 붙은 입자가 강체로 동행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532888" y="2651760"/>
            <a:ext cx="373075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86" name="Text 84"/>
          <p:cNvSpPr txBox="1"/>
          <p:nvPr/>
        </p:nvSpPr>
        <p:spPr>
          <a:xfrm>
            <a:off x="1896466" y="23957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u = 0.5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V5와 모든 설정 동일, attach = 1만 켬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기능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Config::attachOnContact — 첫 접촉에서 부착, 물체 속도를 즉시 받음, 잃은 운동량 m_p(u_b − v_p)는 충격량 채널(JIX)로 물체에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부착 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강체 속도로 이동 (항력·접촉 없음), PlaceMarkers가 강체 위치로 스냅, 부피는 φ_p에 계속 투영, 질량은 물체 관성·무게에 합산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EL–EL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붙은 입자에 작용하는 자유 입자 접촉력은 물체 충격량으로 전달; 대시팟은 강체 속도 사용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케이스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V5 (주기 상자, 구 R 0.15, EL 200개, k_n 500) + attach = 1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검사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포획 수, 반발 수, 최근접 거리, 구 속도, 운동량 수지 (탄성 접촉 V5와 비교)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V15 결과 — 포획도 탄성 접촉과 같은 수준으로 운동량을 보존</a:t>
            </a:r>
            <a:endParaRPr lang="en-US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 = 1.2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탄성 접촉 (V5)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부착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붙은 입자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107 / 200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반발 입자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최근접 gap/d_p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0.109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−0.021 (첫 접촉 겹침)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구 속도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0.271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0.276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(ΣP − P_0)/P_0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−3.2e-3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−3.2e-3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107 / 200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847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포획 (나머지는 빗나감)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509760" y="1188720"/>
            <a:ext cx="21945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0" y="12618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−3.2e-3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1847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운동량 수지, 탄성 접촉과 동일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514600"/>
            <a:ext cx="44805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258775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2.6x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17296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붙은 질량 / 구의 초과 질량 — 함께 이동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첫 구현은 18 %를 잃음: 자유 입자가 붙은 입자를 밀 때 힘은 받지만 강체로 움직이는 붙은 입자가 반력을 물체에 넘기지 않았음 → 반력 전달 + 강체 속도 대시팟으로 수정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attach = 0이면 충돌 케이스는 모든 자릿수에서 불변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미시험: 회전하는 물체에 부착, 탈착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4. Pilobolus 포자낭 발사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Yafetto et al. (2008): d 0.35 mm, 8.6 m/s에 0.22 ms 도달 후 1300 m/s² 감속 — 공기와 수액이 각각 얼마나 감속시키는가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P1 설정 — 단상 발사: 처방 v(t)와 자유 비행 (pilobolus_launch)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89304" y="1874520"/>
            <a:ext cx="3730752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9304" y="3242462"/>
            <a:ext cx="3730752" cy="373075"/>
          </a:xfrm>
          <a:prstGeom prst="rect">
            <a:avLst/>
          </a:prstGeom>
          <a:solidFill>
            <a:srgbClr val="D9E8EB"/>
          </a:solidFill>
          <a:ln w="9525">
            <a:solidFill>
              <a:srgbClr val="5B8E7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289304" y="298643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E7D"/>
                </a:solidFill>
              </a:rPr>
              <a:t>세밀 띠 |y|,|z| &lt; 0.6 mm (0.2 mm 요소, N 5: 40 µm ≈ d/9)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58191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원방 u =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502005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원방 u =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7784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원방 u = 0 (노즐 x = 0)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65776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유출 (동압 안정화)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86224" y="3317077"/>
            <a:ext cx="223845" cy="223845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6607" y="3429000"/>
            <a:ext cx="1231148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91941" y="3721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포자낭 d 0.35 mm, v(t): 0.22 ms에 8.6 m/s, 이후 −1300 m/s²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x −2~10 mm, y·z ±5 mm, 11 760 요소 (hires: 105 800, 0.08 mm·N 7 = 11 µm); 8 랭크 (macOS 2 GB/랭크 한계)</a:t>
            </a:r>
            <a:endParaRPr lang="en-US" sz="9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공기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ρ 1.2, μ 1.8e-5; dt 1 µs (hires 0.3 µs), 1.2 ms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포자낭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등가 구 d 350 µm, ρ_b 1150; 마커 25 µm, FWHM 50 µm (hires 8 / 16 µm)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처방 (mode 0)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x(t), v(t)를 전 구간 강제; 보고: 마커 힘 합 F_m, 물체 힘 F = F_m + ρ_f V a, C_d, a_f = F/(ρ_b V)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자유 비행 (mode 1)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t_rise = 0.22 ms에 8.6 m/s로 놓음 → 유체력·중력만으로 감속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측정 (Yafetto 2008)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v_max 8.6 m/s, t_rise 0.22 ms, 활공 감속 ~1300 m/s², Re ≈ 200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실행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노트북 8 랭크 CPU, 3.4–6.8 s/스텝 (각 1200 스텝); hires는 Tuolumne 입력 준비됨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P1 결과 — 공기 저항은 측정 감속의 9 %뿐: 포자낭은 거의 감속 없이 활공</a:t>
            </a:r>
            <a:endParaRPr lang="en-US" sz="2600" dirty="0"/>
          </a:p>
        </p:txBody>
      </p:sp>
      <p:pic>
        <p:nvPicPr>
          <p:cNvPr id="3" name="pil_top.png" descr="/private/tmp/claude-501/-Users-byeong-cheonkim-Documents-MFC-BCKim/4be11685-c523-42bf-9340-310b6e7e98eb/scratchpad/deck/img/pil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035040" cy="4114800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09728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활공 구간 (t &gt; 0.22 ms)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처방 v(t)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자유 비행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측정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1.2 ms 속도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7.33 m/s (강제)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8.48 m/s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~7.3 m/s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유체력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2.4–3.3 µN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약간 큼 (속도 유지)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감속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a_f 111 m/s² (93–141)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125 m/s²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1300 m/s²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C_d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0.785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0.70–0.75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S–N 0.832 (Re 185)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675120" y="3200400"/>
            <a:ext cx="2423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766560" y="32735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9 %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385876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공기가 설명하는 측정 감속 비율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9281160" y="3200400"/>
            <a:ext cx="2423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372600" y="32735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1190 m/s²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9372600" y="385876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수액 쪽에서 나와야 하는 감속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675120" y="45720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두 모드가 같은 답: 건조 포자낭은 0.96 ms 동안 0.12 m/s만 잃음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가속 구간 마커 힘 −5.3 µN 중 2.1 µN은 껍질 안 유체의 관성 (ρ_f V a); 물체 힘 최대 −4.2 µN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힘의 ±0.2 µN 톱니(주기 27 µs)는 0.2 mm 요소를 7.5 m/s로 건너는 격자 교차 잡음 (V14와 같은 기구)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349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scripts/pilobolus_launch.py → docs/img/pilobolus_launch.png (위 두 줄)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P2 설정 — 수액 액적 주입과 부착 (pilobolus_launch/sap)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89304" y="1874520"/>
            <a:ext cx="3730752" cy="3108960"/>
          </a:xfrm>
          <a:prstGeom prst="rect">
            <a:avLst/>
          </a:prstGeom>
          <a:solidFill>
            <a:srgbClr val="F6FAFB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9304" y="3242462"/>
            <a:ext cx="3730752" cy="373075"/>
          </a:xfrm>
          <a:prstGeom prst="rect">
            <a:avLst/>
          </a:prstGeom>
          <a:solidFill>
            <a:srgbClr val="D9E8EB"/>
          </a:solidFill>
          <a:ln w="9525">
            <a:solidFill>
              <a:srgbClr val="5B8E7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289304" y="298643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E7D"/>
                </a:solidFill>
              </a:rPr>
              <a:t>세밀 띠 (P1과 동일 격자)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58191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원방 u =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502005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원방 u =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7784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노즐 r 75 µm (x = 0)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65776" y="1874520"/>
            <a:ext cx="685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</a:rPr>
              <a:t>유출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883" y="3398976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4122" y="3448224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48661" y="3407434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76576" y="3349531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7756" y="3422288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30195" y="3364706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8510" y="3474246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9954" y="3449608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19347" y="3461593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36102" y="3410407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9432" y="3478366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18685" y="3335383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069" y="3417096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1057" y="3456748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0775" y="3400605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9277" y="3442496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5095" y="3332938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50484" y="3449994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6142" y="3434792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32563" y="3366014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80379" y="3431735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7382" y="3342167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96028" y="3348714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69177" y="3449458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7864" y="3423701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84207" y="3384670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19443" y="3451349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54003" y="3472130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53515" y="3422064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6045" y="3385592"/>
            <a:ext cx="41148" cy="411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94598" y="340473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86860" y="3483533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55854" y="3418268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56560" y="3325624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5858" y="3442036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25541" y="3349903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31688" y="352516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01276" y="348574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43608" y="3504923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52039" y="3423026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36702" y="3531760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62880" y="330298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91202" y="3433728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76489" y="3497172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36179" y="3407342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43531" y="3474368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31931" y="3299075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7859" y="3486365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41083" y="346204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18146" y="335199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80744" y="3457150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57447" y="331384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87957" y="332431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78421" y="3485508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86977" y="3444296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14954" y="3381846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03713" y="3488534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61730" y="3521783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31193" y="344167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950976" y="338332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76060" y="346339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51794" y="3420906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52265" y="3335683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62025" y="3434950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08814" y="3485344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01936" y="3511429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13979" y="3353535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96608" y="330336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52811" y="3330220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05510" y="3384963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47233" y="353822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57712" y="345530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568677" y="3446330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55043" y="336085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10996" y="3306333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97832" y="3454729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72861" y="3434500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65483" y="3297844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66564" y="3327256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74275" y="3427546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94763" y="3346929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27696" y="3478437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412109" y="350580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72424" y="337068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934052" y="3327934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580716" y="3337642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530523" y="3534912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459220" y="3538991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832920" y="3337598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84181" y="3508000"/>
            <a:ext cx="18288" cy="18288"/>
          </a:xfrm>
          <a:prstGeom prst="ellipse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296607" y="3317077"/>
            <a:ext cx="223845" cy="223845"/>
          </a:xfrm>
          <a:prstGeom prst="ellipse">
            <a:avLst/>
          </a:prstGeom>
          <a:solidFill>
            <a:srgbClr val="B5BEC4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363919" y="3864254"/>
            <a:ext cx="373075" cy="9144"/>
          </a:xfrm>
          <a:prstGeom prst="line">
            <a:avLst/>
          </a:prstGeom>
          <a:noFill/>
          <a:ln w="22225">
            <a:solidFill>
              <a:srgbClr val="9A031E"/>
            </a:solidFill>
            <a:prstDash val="solid"/>
            <a:tailEnd type="triangle"/>
          </a:ln>
        </p:spPr>
      </p:sp>
      <p:sp>
        <p:nvSpPr>
          <p:cNvPr id="102" name="Text 100"/>
          <p:cNvSpPr txBox="1"/>
          <p:nvPr/>
        </p:nvSpPr>
        <p:spPr>
          <a:xfrm>
            <a:off x="453177" y="424830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031E"/>
                </a:solidFill>
              </a:rPr>
              <a:t>수액 제트 12 m/s, 0.3 ms</a:t>
            </a:r>
            <a:endParaRPr lang="en-US" sz="950" dirty="0"/>
          </a:p>
        </p:txBody>
      </p:sp>
      <p:sp>
        <p:nvSpPr>
          <p:cNvPr id="103" name="Text 101"/>
          <p:cNvSpPr txBox="1"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P1의 단상 케이스 + EL 수액 액적 (주액적 120 µm, 위성 18 µm): 노즐 원반에서 매 스텝 주입, 포자낭(처방 v(t))에 접촉 시 부착 (V15)</a:t>
            </a:r>
            <a:endParaRPr lang="en-US" sz="9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수액 (Yafetto 2008)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총 30 nL (10–50 nL), ρ 1005; 주액적 d 120 µm (부피 90 %, 30개), 위성 18 µm (10 %, ~980개)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주입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노즐 반지름 75 µm, v_jet 12 m/s, 횡 분산 0.5 m/s, t &lt; 0.3 ms 동안 sap_volume·dt/t_inj 씩 (소수 개수 이월)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필터 폭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EL 투영 250 µm (액적 간격 몇 개), IBM 마커 50 µm — V13의 분리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접촉·부착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attach = 1 (첫 접촉에서 부착, V15), k_n 2000, 서브스텝 5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보고 추가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영역 내 액적 수, 붙은 수·질량, 수액 운동량; 스냅샷 5 스텝, 체크포인트 25 스텝 (영상)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실행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노트북 8 랭크, 3–23 s/스텝 (주입 중 느림), 1200 스텝 ≈ 2.5 h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P2 결과 — 수액은 질량의 90 %만큼 붙지만 감속에는 기여하지 못함</a:t>
            </a:r>
            <a:endParaRPr lang="en-US" sz="2600" dirty="0"/>
          </a:p>
        </p:txBody>
      </p:sp>
      <p:pic>
        <p:nvPicPr>
          <p:cNvPr id="3" name="pil_sap.png" descr="/private/tmp/claude-501/-Users-byeong-cheonkim-Documents-MFC-BCKim/4be11685-c523-42bf-9340-310b6e7e98eb/scratchpad/deck/img/pil_s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852160" cy="1993392"/>
          </a:xfrm>
          <a:prstGeom prst="rect">
            <a:avLst/>
          </a:prstGeom>
        </p:spPr>
      </p:pic>
      <p:pic>
        <p:nvPicPr>
          <p:cNvPr id="4" name="sap_f060.png" descr="/private/tmp/claude-501/-Users-byeong-cheonkim-Documents-MFC-BCKim/4be11685-c523-42bf-9340-310b6e7e98eb/scratchpad/deck/img/sap_f0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46120"/>
            <a:ext cx="2834640" cy="1060704"/>
          </a:xfrm>
          <a:prstGeom prst="rect">
            <a:avLst/>
          </a:prstGeom>
        </p:spPr>
      </p:pic>
      <p:pic>
        <p:nvPicPr>
          <p:cNvPr id="5" name="sap_f200.png" descr="/private/tmp/claude-501/-Users-byeong-cheonkim-Documents-MFC-BCKim/4be11685-c523-42bf-9340-310b6e7e98eb/scratchpad/deck/img/sap_f2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246120"/>
            <a:ext cx="2834640" cy="1060704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값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주입 액적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1011개 (주 30, 위성 ~980), 0.3 ms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붙은 액적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775개, 0.86 ms에 포화; 끝에 1005개 잔류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붙은 질량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23.2 ng = 수액의 77 %, 포자낭 질량의 90 %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활공 유체력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1.8 µN vs 건조 2.9 µN (−36 %)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C_d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0.4–0.6 vs 건조 0.79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공기만의 감속 (붙은 질량 포함)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~40 m/s² (측정 1300의 3 %)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 txBox="1"/>
          <p:nvPr/>
        </p:nvSpPr>
        <p:spPr>
          <a:xfrm>
            <a:off x="6583680" y="42062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수액 30 nL(30 ng)이 포자낭(26 ng)보다 무거워 붙은 질량이 관성을 키움 → 감속 감소; 12 m/s 액적의 충돌 운동량은 앞 방향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뒤따르는 제트가 포자낭 뒤 공기를 끌고 가 상대속도가 줄고 항력이 36 % 감소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결론: 붙은 수액의 질량·항력으로는 측정 감속을 설명 못 함 → 수액 꼬리의 장력(테더) 또는 수액 원반의 유효 단면이 다음 모델 (미구현)</a:t>
            </a:r>
            <a:endParaRPr lang="en-US" sz="1000" dirty="0"/>
          </a:p>
        </p:txBody>
      </p:sp>
      <p:sp>
        <p:nvSpPr>
          <p:cNvPr id="8" name="Text 2"/>
          <p:cNvSpPr txBox="1"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5"/>
                </a:solidFill>
              </a:rPr>
              <a:t>위: 액적 수·붙은 질량·수액 운동량. 아래: ParaView 영상 프레임 t = 0.30, 1.00 ms (회색 구 포자낭, 주황 액적, φ_p 단면)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요약 — 검증 상태와 남은 일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영역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결론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EL 결합 (V1–V9)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배관 반올림 수준; 보존 수지 1e-3; 두 독립 경로 1 % 이내; Nek5000과 1.2 % 이내; Bickley 3.5 %; TAB 개시 곡선 위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IBM (V10–V12)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 10 기준값을 폭으로 감쌈; Re 100 C_d +18 → +10 % (해상도); 침강 −6 → −2.5 % (NekIBM 격자)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Pilobolus 준비 (V13–V15)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필터 폭 분리 inert·수지 유지; 처방 운동 구 2.4 % 이내; 부착 접촉 수지 동일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Pilobolus 발사 (P1, P2)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공기 9 %, 붙은 수액 3 % → 측정 감속 1300 m/s²의 나머지는 수액 꼬리 장력 등 다른 기구</a:t>
                      </a:r>
                      <a:endParaRPr lang="en-US" sz="11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Tuolumne 대기: Re 300 고정 구 (Johnson &amp; Patel C_d 0.656, St 0.137), Pilobolus hires 발사 (105 800 요소, N 7)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모델: 수액 꼬리 장력(테더) 구현 여부; 주액적(120 µm, 격자 3칸)은 검증된 점입자 영역 밖 — 40 µm 액적 민감도 실행 제안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미해결: 32 랭크 설정 segfault, TAB We ≥ 200 재분열 불안정, 디바이스 경로의 GPU 백엔드 실행, NekIBM 자체 실행 (Linux/Intel 필요)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kRS-EL-IBM">
  <a:themeElements>
    <a:clrScheme name="NekRS-EL-IBM">
      <a:dk1>
        <a:srgbClr val="1C2B33"/>
      </a:dk1>
      <a:lt1>
        <a:srgbClr val="FFFFFF"/>
      </a:lt1>
      <a:dk2>
        <a:srgbClr val="0F4C5C"/>
      </a:dk2>
      <a:lt2>
        <a:srgbClr val="EEF4F5"/>
      </a:lt2>
      <a:accent1>
        <a:srgbClr val="0F4C5C"/>
      </a:accent1>
      <a:accent2>
        <a:srgbClr val="E36414"/>
      </a:accent2>
      <a:accent3>
        <a:srgbClr val="5B8E7D"/>
      </a:accent3>
      <a:accent4>
        <a:srgbClr val="9A031E"/>
      </a:accent4>
      <a:accent5>
        <a:srgbClr val="FB8B24"/>
      </a:accent5>
      <a:accent6>
        <a:srgbClr val="4A6FA5"/>
      </a:accent6>
      <a:hlink>
        <a:srgbClr val="0F4C5C"/>
      </a:hlink>
      <a:folHlink>
        <a:srgbClr val="5B8E7D"/>
      </a:folHlink>
    </a:clrScheme>
    <a:fontScheme name="NekRS-EL-IB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NekRS-EL-IBM 해석 설정과 결과</dc:title>
  <dc:subject>PptxGenJS Presentation</dc:subject>
  <dc:creator>BC Kim</dc:creator>
  <cp:lastModifiedBy>BC Kim</cp:lastModifiedBy>
  <cp:revision>1</cp:revision>
  <dcterms:created xsi:type="dcterms:W3CDTF">2026-10-28T16:45:50Z</dcterms:created>
  <dcterms:modified xsi:type="dcterms:W3CDTF">2026-10-28T16:45:50Z</dcterms:modified>
</cp:coreProperties>
</file>